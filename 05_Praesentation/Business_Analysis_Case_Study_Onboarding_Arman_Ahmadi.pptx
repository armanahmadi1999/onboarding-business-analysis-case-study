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6"/>
  </p:normalViewPr>
  <p:slideViewPr>
    <p:cSldViewPr snapToGrid="0" snapToObjects="1">
      <p:cViewPr varScale="1">
        <p:scale>
          <a:sx n="88" d="100"/>
          <a:sy n="88" d="100"/>
        </p:scale>
        <p:origin x="176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365760"/>
            <a:ext cx="3108960" cy="3108960"/>
          </a:xfrm>
          <a:prstGeom prst="rect">
            <a:avLst/>
          </a:prstGeom>
          <a:solidFill>
            <a:srgbClr val="18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4023360"/>
            <a:ext cx="2011680" cy="2011680"/>
          </a:xfrm>
          <a:prstGeom prst="rect">
            <a:avLst/>
          </a:prstGeom>
          <a:solidFill>
            <a:srgbClr val="1C4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9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1FF"/>
                </a:solidFill>
                <a:latin typeface="Aptos"/>
              </a:rPr>
              <a:t>BUSINESS ANALYSIS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Digitalisierung des
Mitarbeiter-Onboardings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E2F0"/>
                </a:solidFill>
                <a:latin typeface="Aptos"/>
              </a:rPr>
              <a:t>Ein strukturierter 30-Tage-Onboarding-Prozess für ein mittelständisches IT-Unternehmen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947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D3E5"/>
                </a:solidFill>
                <a:latin typeface="Aptos"/>
              </a:rPr>
              <a:t>Eigenprojekt | Business Analysis · Projektmanagement · Digitalisierung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709160"/>
            <a:ext cx="3383280" cy="713232"/>
          </a:xfrm>
          <a:prstGeom prst="roundRect">
            <a:avLst/>
          </a:prstGeom>
          <a:solidFill>
            <a:srgbClr val="18365E"/>
          </a:solidFill>
          <a:ln w="12700">
            <a:solidFill>
              <a:srgbClr val="18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Arman Ahmadi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023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Mathematik &amp; Informatik | Kommunikation &amp; Analyse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234440"/>
            <a:ext cx="2560320" cy="585216"/>
          </a:xfrm>
          <a:prstGeom prst="roundRect">
            <a:avLst/>
          </a:prstGeom>
          <a:solidFill>
            <a:srgbClr val="143158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13648" y="1399032"/>
            <a:ext cx="2103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48840"/>
            <a:ext cx="2560320" cy="585216"/>
          </a:xfrm>
          <a:prstGeom prst="roundRect">
            <a:avLst/>
          </a:prstGeom>
          <a:solidFill>
            <a:srgbClr val="143158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2313432"/>
            <a:ext cx="2103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Konzept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063240"/>
            <a:ext cx="2560320" cy="585216"/>
          </a:xfrm>
          <a:prstGeom prst="roundRect">
            <a:avLst/>
          </a:prstGeom>
          <a:solidFill>
            <a:srgbClr val="143158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3227832"/>
            <a:ext cx="2103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Planung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977639"/>
            <a:ext cx="2560320" cy="585216"/>
          </a:xfrm>
          <a:prstGeom prst="roundRect">
            <a:avLst/>
          </a:prstGeom>
          <a:solidFill>
            <a:srgbClr val="143158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4142231"/>
            <a:ext cx="2103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Rollout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869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 err="1">
                <a:solidFill>
                  <a:srgbClr val="0C1E38"/>
                </a:solidFill>
                <a:latin typeface="Aptos Display"/>
              </a:rPr>
              <a:t>Vom</a:t>
            </a:r>
            <a:r>
              <a:rPr sz="2500" b="1" dirty="0">
                <a:solidFill>
                  <a:srgbClr val="0C1E38"/>
                </a:solidFill>
                <a:latin typeface="Aptos Display"/>
              </a:rPr>
              <a:t> </a:t>
            </a:r>
            <a:r>
              <a:rPr sz="2500" b="1" dirty="0" err="1">
                <a:solidFill>
                  <a:srgbClr val="0C1E38"/>
                </a:solidFill>
                <a:latin typeface="Aptos Display"/>
              </a:rPr>
              <a:t>unstrukturierten</a:t>
            </a:r>
            <a:r>
              <a:rPr sz="2500" b="1" dirty="0">
                <a:solidFill>
                  <a:srgbClr val="0C1E38"/>
                </a:solidFill>
                <a:latin typeface="Aptos Display"/>
              </a:rPr>
              <a:t> Start </a:t>
            </a:r>
            <a:r>
              <a:rPr sz="2500" b="1" dirty="0" err="1">
                <a:solidFill>
                  <a:srgbClr val="0C1E38"/>
                </a:solidFill>
                <a:latin typeface="Aptos Display"/>
              </a:rPr>
              <a:t>zum</a:t>
            </a:r>
            <a:r>
              <a:rPr sz="2500" b="1" dirty="0">
                <a:solidFill>
                  <a:srgbClr val="0C1E38"/>
                </a:solidFill>
                <a:latin typeface="Aptos Display"/>
              </a:rPr>
              <a:t> </a:t>
            </a:r>
            <a:r>
              <a:rPr sz="2500" b="1" dirty="0" err="1">
                <a:solidFill>
                  <a:srgbClr val="0C1E38"/>
                </a:solidFill>
                <a:latin typeface="Aptos Display"/>
              </a:rPr>
              <a:t>klaren</a:t>
            </a:r>
            <a:r>
              <a:rPr sz="2500" b="1" dirty="0">
                <a:solidFill>
                  <a:srgbClr val="0C1E38"/>
                </a:solidFill>
                <a:latin typeface="Aptos Display"/>
              </a:rPr>
              <a:t> 30-Tage-Onboarding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37174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57283"/>
                </a:solidFill>
                <a:latin typeface="Aptos"/>
              </a:rPr>
              <a:t>Ein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mittelständisches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IT-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Unternehmen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möchte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neue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Mitarbeitende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schneller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strukturierter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und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weniger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überfordernd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einarbeiten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1417320"/>
          </a:xfrm>
          <a:prstGeom prst="rect">
            <a:avLst/>
          </a:prstGeom>
          <a:solidFill>
            <a:srgbClr val="C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221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603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Informationen sind verteilt, Teamleads haben wenig Zeit und neue Mitarbeitende müssen sich vieles selbst erschließen.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C73E3E"/>
                </a:solidFill>
                <a:latin typeface="Aptos"/>
              </a:rPr>
              <a:t>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057400"/>
            <a:ext cx="73152" cy="1417320"/>
          </a:xfrm>
          <a:prstGeom prst="rect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2221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Lösung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5603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Eine digitale Onboarding-Plattform bündelt Plan, Aufgaben, Dokumente, Ansprechpartner, Checklisten und Gespräche.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971D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2057400"/>
            <a:ext cx="73152" cy="1417320"/>
          </a:xfrm>
          <a:prstGeom prst="rect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2221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Nutzen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5603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Schnellere Produktivität, weniger Rückfragen, klare Zuständigkeiten und messbar bessere Onboarding-Qualität.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58E51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776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Projektkennzahlen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2331720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5994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971DB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99262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Wochen Projektlaufzeit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7" y="4434840"/>
            <a:ext cx="2331720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0168" y="45994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971DB"/>
                </a:solidFill>
                <a:latin typeface="Aptos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499262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Personentage Aufwand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7" y="4434840"/>
            <a:ext cx="2331720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5994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971DB"/>
                </a:solidFill>
                <a:latin typeface="Aptos"/>
              </a:rPr>
              <a:t>9.900 €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99262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geschätztes Budget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4434840"/>
            <a:ext cx="2331720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08007" y="45994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971DB"/>
                </a:solidFill>
                <a:latin typeface="Aptos"/>
              </a:rP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499262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Tage Onboarding-Plan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C1E38"/>
                </a:solidFill>
                <a:latin typeface="Aptos"/>
              </a:rPr>
              <a:t>Empfehlung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: Pilot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mit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kleiner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Gruppe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starten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, Feedback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auswerten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und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anschließend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als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C1E38"/>
                </a:solidFill>
                <a:latin typeface="Aptos"/>
              </a:rPr>
              <a:t>Standardprozess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 </a:t>
            </a:r>
            <a:r>
              <a:rPr lang="de-DE" sz="1200" b="1" dirty="0">
                <a:solidFill>
                  <a:srgbClr val="0C1E38"/>
                </a:solidFill>
                <a:latin typeface="Aptos"/>
              </a:rPr>
              <a:t>etablieren</a:t>
            </a:r>
            <a:r>
              <a:rPr sz="1200" b="1" dirty="0">
                <a:solidFill>
                  <a:srgbClr val="0C1E38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Ausgangssituation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Onboarding ist häufig kein Tool-Problem, sondern ein Strukturproblem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300">
                <a:solidFill>
                  <a:srgbClr val="1C232B"/>
                </a:solidFill>
                <a:latin typeface="Aptos"/>
              </a:rPr>
              <a:t>• Neue Mitarbeitende erhalten viele Informationen in sehr kurzer Zeit.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300">
                <a:solidFill>
                  <a:srgbClr val="1C232B"/>
                </a:solidFill>
                <a:latin typeface="Aptos"/>
              </a:rPr>
              <a:t>• Dokumente, Aufgaben und Ansprechpartner sind nicht zentral gebündelt.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300">
                <a:solidFill>
                  <a:srgbClr val="1C232B"/>
                </a:solidFill>
                <a:latin typeface="Aptos"/>
              </a:rPr>
              <a:t>• Teamleads haben im Tagesgeschäft wenig Zeit für strukturierte Einarbeitung.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300">
                <a:solidFill>
                  <a:srgbClr val="1C232B"/>
                </a:solidFill>
                <a:latin typeface="Aptos"/>
              </a:rPr>
              <a:t>• Feedback findet häufig unregelmäßig oder erst spät statt.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300">
                <a:solidFill>
                  <a:srgbClr val="1C232B"/>
                </a:solidFill>
                <a:latin typeface="Aptos"/>
              </a:rPr>
              <a:t>• Neue Mitarbeitende müssen sich Wissen oft eigenständig zusammensuchen.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00200"/>
            <a:ext cx="4800600" cy="1828800"/>
          </a:xfrm>
          <a:prstGeom prst="roundRect">
            <a:avLst/>
          </a:prstGeom>
          <a:solidFill>
            <a:srgbClr val="0C1E38"/>
          </a:solidFill>
          <a:ln w="12700"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847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1FF"/>
                </a:solidFill>
                <a:latin typeface="Aptos"/>
              </a:rPr>
              <a:t>Kernaussage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80844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ptos"/>
              </a:rPr>
              <a:t>Das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aktuelle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Onboarding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ist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stark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personenabhängig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und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bietet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neuen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Mitarbeitenden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zu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wenig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Orientierung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977639"/>
            <a:ext cx="2286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6248" y="4123944"/>
            <a:ext cx="228600" cy="228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4142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32B"/>
                </a:solidFill>
                <a:latin typeface="Aptos"/>
              </a:rPr>
              <a:t>Zu viele Infos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977639"/>
            <a:ext cx="2286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70848" y="4123944"/>
            <a:ext cx="228600" cy="228600"/>
          </a:xfrm>
          <a:prstGeom prst="ellipse">
            <a:avLst/>
          </a:prstGeom>
          <a:solidFill>
            <a:srgbClr val="C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0032" y="414223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32B"/>
                </a:solidFill>
                <a:latin typeface="Aptos"/>
              </a:rPr>
              <a:t>Unklare Zuständigkeit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800600"/>
            <a:ext cx="2286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6248" y="4946904"/>
            <a:ext cx="228600" cy="228600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1" y="49651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32B"/>
                </a:solidFill>
                <a:latin typeface="Aptos"/>
              </a:rPr>
              <a:t>Wenig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800600"/>
            <a:ext cx="2286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70848" y="4946904"/>
            <a:ext cx="228600" cy="228600"/>
          </a:xfrm>
          <a:prstGeom prst="ellipse">
            <a:avLst/>
          </a:prstGeom>
          <a:solidFill>
            <a:srgbClr val="657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49651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32B"/>
                </a:solidFill>
                <a:latin typeface="Aptos"/>
              </a:rPr>
              <a:t>Verteiltes Wissen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Kernproblem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C1E38"/>
                </a:solidFill>
                <a:latin typeface="Aptos Display"/>
              </a:rPr>
              <a:t>Neue Mitarbeitende werden zu früh allein gelassen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53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57283"/>
                </a:solidFill>
                <a:latin typeface="Aptos"/>
              </a:rPr>
              <a:t>Die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Herausforderung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besteht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nicht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nur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in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fehlenden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Dokumenten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sondern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in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fehlender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Lernlogik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Begleitung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 und </a:t>
            </a:r>
            <a:r>
              <a:rPr sz="1200" b="0" dirty="0" err="1">
                <a:solidFill>
                  <a:srgbClr val="657283"/>
                </a:solidFill>
                <a:latin typeface="Aptos"/>
              </a:rPr>
              <a:t>Transparenz</a:t>
            </a:r>
            <a:r>
              <a:rPr sz="1200" b="0" dirty="0">
                <a:solidFill>
                  <a:srgbClr val="65728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4088" y="2395728"/>
            <a:ext cx="347472" cy="347472"/>
          </a:xfrm>
          <a:prstGeom prst="ellipse">
            <a:avLst/>
          </a:prstGeom>
          <a:solidFill>
            <a:srgbClr val="C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441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38658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Informationsflut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679192"/>
            <a:ext cx="118871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Viele Inhalte am ersten Tag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87168" y="2816352"/>
            <a:ext cx="292608" cy="0"/>
          </a:xfrm>
          <a:prstGeom prst="line">
            <a:avLst/>
          </a:prstGeom>
          <a:ln w="1905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2928" y="2240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62656" y="2395728"/>
            <a:ext cx="347472" cy="347472"/>
          </a:xfrm>
          <a:prstGeom prst="ellipse">
            <a:avLst/>
          </a:prstGeom>
          <a:solidFill>
            <a:srgbClr val="C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62656" y="2441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8658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Orientierungslücke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79192"/>
            <a:ext cx="118871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Kein klarer Lernpfad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45736" y="2816352"/>
            <a:ext cx="292608" cy="0"/>
          </a:xfrm>
          <a:prstGeom prst="line">
            <a:avLst/>
          </a:prstGeom>
          <a:ln w="1905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1496" y="2240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21224" y="239572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1224" y="2441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238658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Abhängigkeit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2679192"/>
            <a:ext cx="118871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Teamlead als Engpass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04304" y="2816352"/>
            <a:ext cx="292608" cy="0"/>
          </a:xfrm>
          <a:prstGeom prst="line">
            <a:avLst/>
          </a:prstGeom>
          <a:ln w="1905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70064" y="2240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79792" y="239572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79792" y="2441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238658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Unsicherheit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416" y="2679192"/>
            <a:ext cx="118871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Fragen werden zu spät gestellt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2816352"/>
            <a:ext cx="292608" cy="0"/>
          </a:xfrm>
          <a:prstGeom prst="line">
            <a:avLst/>
          </a:prstGeom>
          <a:ln w="1905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28632" y="2240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38360" y="239572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2441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8984" y="238658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Verzögerung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58984" y="2679192"/>
            <a:ext cx="118871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Produktivität dauert länger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617720"/>
            <a:ext cx="10789920" cy="82296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00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E38"/>
                </a:solidFill>
                <a:latin typeface="Aptos"/>
              </a:rPr>
              <a:t>Business-Problem: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80060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Unstrukturierte Einarbeitung verursacht Rückfragen, Frust, ineffiziente Zeitnutzung und eine langsamere Integration ins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Ist-Prozess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Aktueller Prozess: schnell erklärt, aber schwer nachhaltig zu verstehen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207568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Vertrag unterschrieben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1" y="2441448"/>
            <a:ext cx="118871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 err="1">
                <a:solidFill>
                  <a:srgbClr val="1C232B"/>
                </a:solidFill>
                <a:latin typeface="Aptos"/>
              </a:rPr>
              <a:t>Formaler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Start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ist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abgeschlossen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2697480"/>
            <a:ext cx="246888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088" y="19202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99816" y="207568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9816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Erster Arbeitstag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59737"/>
            <a:ext cx="118871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 err="1">
                <a:solidFill>
                  <a:srgbClr val="1C232B"/>
                </a:solidFill>
                <a:latin typeface="Aptos"/>
              </a:rPr>
              <a:t>Mitarbeitender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kommt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ins Team.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2697480"/>
            <a:ext cx="246887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02936" y="19202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12664" y="207568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Schnelle Erklärung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3288" y="2456688"/>
            <a:ext cx="118871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 err="1">
                <a:solidFill>
                  <a:srgbClr val="1C232B"/>
                </a:solidFill>
                <a:latin typeface="Aptos"/>
              </a:rPr>
              <a:t>Teamlead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erklärt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Aufgaben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, Tools und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Abläufe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in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kurzer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Zeit.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95744" y="2697480"/>
            <a:ext cx="246887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15783" y="19202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25511" y="207568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25511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Dokumentenflut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6136" y="2468880"/>
            <a:ext cx="118871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>
                <a:solidFill>
                  <a:srgbClr val="1C232B"/>
                </a:solidFill>
                <a:latin typeface="Aptos"/>
              </a:rPr>
              <a:t>Viele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digitale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Dokumente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werden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auf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einmal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bereitgestellt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08592" y="2697480"/>
            <a:ext cx="246888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28632" y="19202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38359" y="2075688"/>
            <a:ext cx="347472" cy="34747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38359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8984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Selbstständige Einarbeitung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8984" y="2478024"/>
            <a:ext cx="118871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 err="1">
                <a:solidFill>
                  <a:srgbClr val="1C232B"/>
                </a:solidFill>
                <a:latin typeface="Aptos"/>
              </a:rPr>
              <a:t>Mitarbeitender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muss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vieles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eigenständig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verstehen und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klären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97763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Schwachstellen im Prozess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4348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150">
                <a:solidFill>
                  <a:srgbClr val="1C232B"/>
                </a:solidFill>
                <a:latin typeface="Aptos"/>
              </a:rPr>
              <a:t>• Kein zentraler Überblick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150">
                <a:solidFill>
                  <a:srgbClr val="1C232B"/>
                </a:solidFill>
                <a:latin typeface="Aptos"/>
              </a:rPr>
              <a:t>• Kein klarer Lernpfad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150">
                <a:solidFill>
                  <a:srgbClr val="1C232B"/>
                </a:solidFill>
                <a:latin typeface="Aptos"/>
              </a:rPr>
              <a:t>• Wenig geplante Rückmeldung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150">
                <a:solidFill>
                  <a:srgbClr val="1C232B"/>
                </a:solidFill>
                <a:latin typeface="Aptos"/>
              </a:rPr>
              <a:t>• Hohe Abhängigkeit vom Teamlead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150">
                <a:solidFill>
                  <a:srgbClr val="1C232B"/>
                </a:solidFill>
                <a:latin typeface="Aptos"/>
              </a:rPr>
              <a:t>• Wissen verteilt sich auf Personen und Dokumente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160520"/>
            <a:ext cx="4892040" cy="123444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4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7083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73E3E"/>
                </a:solidFill>
                <a:latin typeface="Aptos"/>
              </a:rPr>
              <a:t>Analyse-Fazit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727448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232B"/>
                </a:solidFill>
                <a:latin typeface="Aptos"/>
              </a:rPr>
              <a:t>Der Prozess ist formal vorhanden, aber nicht ausreichend gesteuert, begleitet und messbar.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Soll-Prozess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Zielprozess: begleitetes Lernen statt einmaliger Informationsübergabe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20756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Zugang vor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1" y="2467356"/>
            <a:ext cx="118871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>
                <a:solidFill>
                  <a:srgbClr val="1C232B"/>
                </a:solidFill>
                <a:latin typeface="Aptos"/>
              </a:rPr>
              <a:t>Onboarding-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Plattform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vor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dem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ersten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Tag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verfügbar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2724912"/>
            <a:ext cx="246888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088" y="192024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99816" y="20756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9816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Strukturierter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773" y="2467356"/>
            <a:ext cx="118871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Begrüßung, Orientierung und klare Erwartung.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2724912"/>
            <a:ext cx="246887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02936" y="192024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12664" y="20756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30-Tage-Plan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3288" y="2359152"/>
            <a:ext cx="118871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1C232B"/>
                </a:solidFill>
                <a:latin typeface="Aptos"/>
              </a:rPr>
              <a:t>Aufgaben, Lernziele und Termine pro Woche.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95744" y="2724912"/>
            <a:ext cx="246887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15783" y="192024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25511" y="20756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525511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Regelmäßige Gespräche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6135" y="2468880"/>
            <a:ext cx="118871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>
                <a:solidFill>
                  <a:srgbClr val="1C232B"/>
                </a:solidFill>
                <a:latin typeface="Aptos"/>
              </a:rPr>
              <a:t>Buddy,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erfahrene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Mitarbeitende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,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Teamlead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und HR.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08592" y="2724912"/>
            <a:ext cx="246888" cy="0"/>
          </a:xfrm>
          <a:prstGeom prst="line">
            <a:avLst/>
          </a:prstGeom>
          <a:ln w="15240">
            <a:solidFill>
              <a:srgbClr val="6572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28632" y="192024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38359" y="20756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38359" y="2121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8984" y="206654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C1E38"/>
                </a:solidFill>
                <a:latin typeface="Aptos"/>
              </a:rPr>
              <a:t>30-Tage-Selbstcheck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8984" y="2467356"/>
            <a:ext cx="1188719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dirty="0" err="1">
                <a:solidFill>
                  <a:srgbClr val="1C232B"/>
                </a:solidFill>
                <a:latin typeface="Aptos"/>
              </a:rPr>
              <a:t>Vertrauliche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Reflexion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zu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 Sicherheit, Tools und </a:t>
            </a:r>
            <a:r>
              <a:rPr sz="940" b="0" dirty="0" err="1">
                <a:solidFill>
                  <a:srgbClr val="1C232B"/>
                </a:solidFill>
                <a:latin typeface="Aptos"/>
              </a:rPr>
              <a:t>Lernfeldern</a:t>
            </a:r>
            <a:r>
              <a:rPr sz="940" b="0" dirty="0">
                <a:solidFill>
                  <a:srgbClr val="1C232B"/>
                </a:solidFill>
                <a:latin typeface="Aptos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251960"/>
            <a:ext cx="10789920" cy="10058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971DB"/>
                </a:solidFill>
                <a:latin typeface="Aptos"/>
              </a:rPr>
              <a:t>Zielbild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449884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E38"/>
                </a:solidFill>
                <a:latin typeface="Aptos"/>
              </a:rPr>
              <a:t>Neue Mitarbeitende wissen jederzeit, was ansteht, wo sie Unterstützung bekommen und wie sie ihren Lernfortschritt einschätzen können.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Lösungskonzept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Digitale Onboarding-Plattform als zentrale Orientierung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5760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5760720" cy="53035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647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Onboarding-Plattform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30552"/>
            <a:ext cx="1325880" cy="3904487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C1E38"/>
                </a:solidFill>
                <a:latin typeface="Aptos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895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283"/>
                </a:solidFill>
                <a:latin typeface="Aptos"/>
              </a:rPr>
              <a:t>Aufgaben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283"/>
                </a:solidFill>
                <a:latin typeface="Aptos"/>
              </a:rPr>
              <a:t>Dokumente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770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283"/>
                </a:solidFill>
                <a:latin typeface="Aptos"/>
              </a:rPr>
              <a:t>Kontakt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708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283"/>
                </a:solidFill>
                <a:latin typeface="Aptos"/>
              </a:rPr>
              <a:t>Checklisten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646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283"/>
                </a:solidFill>
                <a:latin typeface="Aptos"/>
              </a:rPr>
              <a:t>Selbstcheck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331720"/>
            <a:ext cx="1691640" cy="86868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0591" y="245973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71DB"/>
                </a:solidFill>
                <a:latin typeface="Aptos"/>
              </a:rPr>
              <a:t>Woche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1" y="2715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C232B"/>
                </a:solidFill>
                <a:latin typeface="Aptos"/>
              </a:rPr>
              <a:t>Orientierung, Tools,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331720"/>
            <a:ext cx="1691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1" y="245973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9CA4"/>
                </a:solidFill>
                <a:latin typeface="Aptos"/>
              </a:rPr>
              <a:t>Woche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2715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C232B"/>
                </a:solidFill>
                <a:latin typeface="Aptos"/>
              </a:rPr>
              <a:t>erste Aufgaben + Buddy-Check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3566160"/>
            <a:ext cx="1691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50591" y="369417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58E51"/>
                </a:solidFill>
                <a:latin typeface="Aptos"/>
              </a:rPr>
              <a:t>Woche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1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C232B"/>
                </a:solidFill>
                <a:latin typeface="Aptos"/>
              </a:rPr>
              <a:t>fachliche Vertiefung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566160"/>
            <a:ext cx="1691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6551" y="369417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  <a:latin typeface="Aptos"/>
              </a:rPr>
              <a:t>Woche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1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C232B"/>
                </a:solidFill>
                <a:latin typeface="Aptos"/>
              </a:rPr>
              <a:t>Selbstcheck +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1600200"/>
            <a:ext cx="4389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95160" y="1600200"/>
            <a:ext cx="73152" cy="914400"/>
          </a:xfrm>
          <a:prstGeom prst="rect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96328" y="176479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Kernfunktion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210312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30-Tage-Plan mit Aufgaben, Lernzielen und wichtigen Terminen.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2761488"/>
            <a:ext cx="4389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95160" y="2761488"/>
            <a:ext cx="73152" cy="914400"/>
          </a:xfrm>
          <a:prstGeom prst="rect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96328" y="2926080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Kernfunktion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3264408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Zentrale Ablage für Dokumente, Ansprechpartner und Checklisten.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5160" y="3922776"/>
            <a:ext cx="4389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95160" y="3922776"/>
            <a:ext cx="731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96328" y="4087368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Kernfunktion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4425696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Regelmäßige Gespräche und vertraulicher Selbstcheck zur Nachsteuerung.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28523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57283"/>
                </a:solidFill>
                <a:latin typeface="Aptos"/>
              </a:rPr>
              <a:t>Wichtig: Es geht nicht um eine komplexe Eigenentwicklung, sondern um die fachliche Konzeption und Struktur einer praktikablen Lösung.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Anforderungen &amp;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Anforderungen werden aus Nutzerbedürfnissen abgeleitet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Kernanforderungen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08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klarer</a:t>
            </a:r>
            <a:r>
              <a:rPr sz="1200" dirty="0">
                <a:solidFill>
                  <a:srgbClr val="1C232B"/>
                </a:solidFill>
                <a:latin typeface="Aptos"/>
              </a:rPr>
              <a:t> 30-Tage-Onboarding-Plan</a:t>
            </a: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20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zentrale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Übersicht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über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Aufgaben</a:t>
            </a:r>
            <a:r>
              <a:rPr sz="1200" dirty="0">
                <a:solidFill>
                  <a:srgbClr val="1C232B"/>
                </a:solidFill>
                <a:latin typeface="Aptos"/>
              </a:rPr>
              <a:t>,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Dokumente</a:t>
            </a:r>
            <a:r>
              <a:rPr sz="1200" dirty="0">
                <a:solidFill>
                  <a:srgbClr val="1C232B"/>
                </a:solidFill>
                <a:latin typeface="Aptos"/>
              </a:rPr>
              <a:t> und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Ansprechpartner</a:t>
            </a:r>
            <a:endParaRPr sz="1200" dirty="0">
              <a:solidFill>
                <a:srgbClr val="1C232B"/>
              </a:solidFill>
              <a:latin typeface="Aptos"/>
            </a:endParaRP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20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wöchentliche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Gespräche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mit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erfahrenen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Mitarbeitenden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sowie</a:t>
            </a:r>
            <a:r>
              <a:rPr sz="1200" dirty="0">
                <a:solidFill>
                  <a:srgbClr val="1C232B"/>
                </a:solidFill>
                <a:latin typeface="Aptos"/>
              </a:rPr>
              <a:t> HR/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Teamlead</a:t>
            </a:r>
            <a:endParaRPr sz="1200" dirty="0">
              <a:solidFill>
                <a:srgbClr val="1C232B"/>
              </a:solidFill>
              <a:latin typeface="Aptos"/>
            </a:endParaRP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20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kleine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Lerneinheiten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zur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Vermeidung</a:t>
            </a:r>
            <a:r>
              <a:rPr sz="1200" dirty="0">
                <a:solidFill>
                  <a:srgbClr val="1C232B"/>
                </a:solidFill>
                <a:latin typeface="Aptos"/>
              </a:rPr>
              <a:t> von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Überforderung</a:t>
            </a:r>
            <a:endParaRPr sz="1200" dirty="0">
              <a:solidFill>
                <a:srgbClr val="1C232B"/>
              </a:solidFill>
              <a:latin typeface="Aptos"/>
            </a:endParaRP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20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Wiederholungen</a:t>
            </a:r>
            <a:r>
              <a:rPr sz="1200" dirty="0">
                <a:solidFill>
                  <a:srgbClr val="1C232B"/>
                </a:solidFill>
                <a:latin typeface="Aptos"/>
              </a:rPr>
              <a:t> und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Checklisten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zur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Sicherung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wichtiger</a:t>
            </a:r>
            <a:r>
              <a:rPr sz="1200" dirty="0">
                <a:solidFill>
                  <a:srgbClr val="1C232B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Inhalte</a:t>
            </a:r>
            <a:endParaRPr sz="1200" dirty="0">
              <a:solidFill>
                <a:srgbClr val="1C232B"/>
              </a:solidFill>
              <a:latin typeface="Aptos"/>
            </a:endParaRPr>
          </a:p>
          <a:p>
            <a:pPr>
              <a:spcAft>
                <a:spcPts val="700"/>
              </a:spcAft>
              <a:defRPr>
                <a:latin typeface="Aptos"/>
              </a:defRPr>
            </a:pPr>
            <a:r>
              <a:rPr sz="1200" dirty="0">
                <a:solidFill>
                  <a:srgbClr val="1C232B"/>
                </a:solidFill>
                <a:latin typeface="Aptos"/>
              </a:rPr>
              <a:t>• </a:t>
            </a:r>
            <a:r>
              <a:rPr sz="1200" dirty="0" err="1">
                <a:solidFill>
                  <a:srgbClr val="1C232B"/>
                </a:solidFill>
                <a:latin typeface="Aptos"/>
              </a:rPr>
              <a:t>vertraulicher</a:t>
            </a:r>
            <a:r>
              <a:rPr sz="1200" dirty="0">
                <a:solidFill>
                  <a:srgbClr val="1C232B"/>
                </a:solidFill>
                <a:latin typeface="Aptos"/>
              </a:rPr>
              <a:t> 30-Tage-Selbstcheck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User Stories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73152" cy="914400"/>
          </a:xfrm>
          <a:prstGeom prst="rect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176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Neuer Mitarbeitender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… möchte Aufgaben, Dokumente und Ansprechpartner zentral sehen, damit Orientierung und effektives Lernen leichter fallen.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5468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154680"/>
            <a:ext cx="73152" cy="914400"/>
          </a:xfrm>
          <a:prstGeom prst="rect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3319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Teamlead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… möchte Fortschritt und Gesprächsbedarf erkennen, damit Unterstützung frühzeitig möglich 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29768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4297680"/>
            <a:ext cx="731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4462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1E38"/>
                </a:solidFill>
                <a:latin typeface="Aptos"/>
              </a:rPr>
              <a:t>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… möchte Checklisten und Gesprächsstruktur nutzen, damit Onboarding einheitlich und vollständig abläuft.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Stakeholder &amp; Rollen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Erfolg hängt von klaren Rollen ab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2011680" cy="438912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Stakeholder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691640"/>
            <a:ext cx="1143000" cy="438912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7556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Interesse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91640"/>
            <a:ext cx="1143000" cy="438912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7556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Einfluss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691640"/>
            <a:ext cx="5303520" cy="438912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Rolle im Projekt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1305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218541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Neuer Mitarbeitender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130552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52344" y="2185416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30552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95344" y="2185416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niedrig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130552"/>
            <a:ext cx="5303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38344" y="2185416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nutzt Plattform, Checklisten und Selbstcheck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569464"/>
            <a:ext cx="201168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262432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Teamlead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569464"/>
            <a:ext cx="114300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52344" y="2624328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mittel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569464"/>
            <a:ext cx="114300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95344" y="2624328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hoch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569464"/>
            <a:ext cx="530352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38344" y="2624328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verantwortet fachliche Einarbeitung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0083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" y="306324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Erfahrene MA / Buddy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008376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52344" y="3063240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mittel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3008376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95344" y="3063240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mittel/hoch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3008376"/>
            <a:ext cx="5303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8344" y="3063240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unterstützt im Alltag und gibt Praxiswissen weiter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447288"/>
            <a:ext cx="201168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0664" y="350215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3447288"/>
            <a:ext cx="114300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52344" y="35021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hoch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3447288"/>
            <a:ext cx="114300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95344" y="35021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hoch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447288"/>
            <a:ext cx="530352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38344" y="3502152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steuert Onboarding-Prozess und Standardisierung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38862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" y="3941063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3886200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52344" y="3941063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mittel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886200"/>
            <a:ext cx="1143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95344" y="3941063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mittel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3886200"/>
            <a:ext cx="5303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38344" y="3941063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richtet technische Zugänge und Plattformbasis ein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645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RACI-Kernlogik</a:t>
            </a:r>
          </a:p>
        </p:txBody>
      </p:sp>
      <p:sp>
        <p:nvSpPr>
          <p:cNvPr id="57" name="Oval 56"/>
          <p:cNvSpPr/>
          <p:nvPr/>
        </p:nvSpPr>
        <p:spPr>
          <a:xfrm>
            <a:off x="868680" y="5074920"/>
            <a:ext cx="438912" cy="438912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" y="517550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9031" y="51389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232B"/>
                </a:solidFill>
                <a:latin typeface="Aptos"/>
              </a:rPr>
              <a:t>führt aus</a:t>
            </a:r>
          </a:p>
        </p:txBody>
      </p:sp>
      <p:sp>
        <p:nvSpPr>
          <p:cNvPr id="60" name="Oval 59"/>
          <p:cNvSpPr/>
          <p:nvPr/>
        </p:nvSpPr>
        <p:spPr>
          <a:xfrm>
            <a:off x="2880360" y="5074920"/>
            <a:ext cx="438912" cy="438912"/>
          </a:xfrm>
          <a:prstGeom prst="ellipse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80360" y="517550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10712" y="51389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232B"/>
                </a:solidFill>
                <a:latin typeface="Aptos"/>
              </a:rPr>
              <a:t>trägt Verantwortung</a:t>
            </a:r>
          </a:p>
        </p:txBody>
      </p:sp>
      <p:sp>
        <p:nvSpPr>
          <p:cNvPr id="63" name="Oval 62"/>
          <p:cNvSpPr/>
          <p:nvPr/>
        </p:nvSpPr>
        <p:spPr>
          <a:xfrm>
            <a:off x="4892040" y="5074920"/>
            <a:ext cx="438912" cy="43891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92040" y="517550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2392" y="51389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232B"/>
                </a:solidFill>
                <a:latin typeface="Aptos"/>
              </a:rPr>
              <a:t>wird einbezogen</a:t>
            </a:r>
          </a:p>
        </p:txBody>
      </p:sp>
      <p:sp>
        <p:nvSpPr>
          <p:cNvPr id="66" name="Oval 65"/>
          <p:cNvSpPr/>
          <p:nvPr/>
        </p:nvSpPr>
        <p:spPr>
          <a:xfrm>
            <a:off x="6903720" y="5074920"/>
            <a:ext cx="438912" cy="438912"/>
          </a:xfrm>
          <a:prstGeom prst="ellipse">
            <a:avLst/>
          </a:prstGeom>
          <a:solidFill>
            <a:srgbClr val="657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03720" y="517550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4072" y="51389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232B"/>
                </a:solidFill>
                <a:latin typeface="Aptos"/>
              </a:rPr>
              <a:t>wird informiert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Projektplan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6-Wochen-Roadmap: schlank, pilotiert und messbar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26464" y="2354580"/>
            <a:ext cx="1133856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Ist-Prozess, Probleme, Stakeholder</a:t>
            </a:r>
          </a:p>
        </p:txBody>
      </p:sp>
      <p:sp>
        <p:nvSpPr>
          <p:cNvPr id="13" name="Oval 12"/>
          <p:cNvSpPr/>
          <p:nvPr/>
        </p:nvSpPr>
        <p:spPr>
          <a:xfrm>
            <a:off x="2587752" y="2057400"/>
            <a:ext cx="594360" cy="594360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87752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91256" y="2354580"/>
            <a:ext cx="1133856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59152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Konzept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Soll-Prozess, Anforderungen, User Stories</a:t>
            </a:r>
          </a:p>
        </p:txBody>
      </p:sp>
      <p:sp>
        <p:nvSpPr>
          <p:cNvPr id="18" name="Oval 17"/>
          <p:cNvSpPr/>
          <p:nvPr/>
        </p:nvSpPr>
        <p:spPr>
          <a:xfrm>
            <a:off x="4352544" y="2057400"/>
            <a:ext cx="594360" cy="594360"/>
          </a:xfrm>
          <a:prstGeom prst="ellipse">
            <a:avLst/>
          </a:prstGeom>
          <a:solidFill>
            <a:srgbClr val="297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52544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56048" y="2354580"/>
            <a:ext cx="1133855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23944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Planung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Rollen, Risiken, KPIs, Umsetzungsplan</a:t>
            </a:r>
          </a:p>
        </p:txBody>
      </p:sp>
      <p:sp>
        <p:nvSpPr>
          <p:cNvPr id="23" name="Oval 22"/>
          <p:cNvSpPr/>
          <p:nvPr/>
        </p:nvSpPr>
        <p:spPr>
          <a:xfrm>
            <a:off x="6117336" y="2057400"/>
            <a:ext cx="594360" cy="594360"/>
          </a:xfrm>
          <a:prstGeom prst="ellipse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17336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20840" y="2354580"/>
            <a:ext cx="1133856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88736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6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Test mit kleiner Gruppe</a:t>
            </a:r>
          </a:p>
        </p:txBody>
      </p:sp>
      <p:sp>
        <p:nvSpPr>
          <p:cNvPr id="28" name="Oval 27"/>
          <p:cNvSpPr/>
          <p:nvPr/>
        </p:nvSpPr>
        <p:spPr>
          <a:xfrm>
            <a:off x="7882127" y="2057400"/>
            <a:ext cx="594360" cy="594360"/>
          </a:xfrm>
          <a:prstGeom prst="ellipse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7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85632" y="2354580"/>
            <a:ext cx="1133856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53527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Optimierung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Feedback auswerten und Inhalte anpassen</a:t>
            </a:r>
          </a:p>
        </p:txBody>
      </p:sp>
      <p:sp>
        <p:nvSpPr>
          <p:cNvPr id="33" name="Oval 32"/>
          <p:cNvSpPr/>
          <p:nvPr/>
        </p:nvSpPr>
        <p:spPr>
          <a:xfrm>
            <a:off x="9646920" y="2057400"/>
            <a:ext cx="594360" cy="594360"/>
          </a:xfrm>
          <a:prstGeom prst="ellipse">
            <a:avLst/>
          </a:prstGeom>
          <a:solidFill>
            <a:srgbClr val="158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2221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8803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1E38"/>
                </a:solidFill>
                <a:latin typeface="Aptos"/>
              </a:rPr>
              <a:t>Rollout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191256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C232B"/>
                </a:solidFill>
                <a:latin typeface="Aptos"/>
              </a:rPr>
              <a:t>Standardprozess einführen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754880"/>
            <a:ext cx="10515600" cy="7772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4992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971DB"/>
                </a:solidFill>
                <a:latin typeface="Aptos"/>
              </a:rPr>
              <a:t>Vorgehen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499262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C1E38"/>
                </a:solidFill>
                <a:latin typeface="Aptos"/>
              </a:rPr>
              <a:t>Die Lösung wird nicht sofort groß ausgerollt, sondern zunächst als Pilot getestet und anhand konkreter Rückmeldungen verbessert.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Aufwand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Schlanke Umsetzung mit rund 20 Personentagen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4389120" cy="356616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Aktivität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00200"/>
            <a:ext cx="1097280" cy="356616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664208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Aufwand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56816"/>
            <a:ext cx="4389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011680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Ist-Prozess analysieren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956816"/>
            <a:ext cx="1097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9783" y="2011680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2 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13432"/>
            <a:ext cx="438912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2368296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Anforderungen sammeln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2313432"/>
            <a:ext cx="109728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9783" y="2368296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2 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70048"/>
            <a:ext cx="4389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2724912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Soll-Prozess entwickeln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670048"/>
            <a:ext cx="1097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9783" y="2724912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2 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26664"/>
            <a:ext cx="438912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081528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Plattform strukturieren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026664"/>
            <a:ext cx="109728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9783" y="3081528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3 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383280"/>
            <a:ext cx="4389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3438144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Inhalte &amp; Checklisten erstellen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3383280"/>
            <a:ext cx="1097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9783" y="3438144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3 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739896"/>
            <a:ext cx="438912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" y="3794759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Gespräche + Selbstcheck planen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3739896"/>
            <a:ext cx="109728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9783" y="3794759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2 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096512"/>
            <a:ext cx="4389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151376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Pilotphase begleiten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4096512"/>
            <a:ext cx="1097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9783" y="4151376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3 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453128"/>
            <a:ext cx="438912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0664" y="4507992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Feedback auswerten &amp; verbessern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4453128"/>
            <a:ext cx="1097280" cy="35661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29783" y="4507992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2 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809744"/>
            <a:ext cx="4389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" y="4864607"/>
            <a:ext cx="4279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Rollout vorbereiten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4809744"/>
            <a:ext cx="1097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9783" y="4864607"/>
            <a:ext cx="98755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1 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1E38"/>
                </a:solidFill>
                <a:latin typeface="Aptos"/>
              </a:rPr>
              <a:t>Budgetannahme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9400" y="2057400"/>
            <a:ext cx="4251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30568" y="221284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57283"/>
                </a:solidFill>
                <a:latin typeface="Aptos"/>
              </a:rPr>
              <a:t>Interner Aufwand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19456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2971DB"/>
                </a:solidFill>
                <a:latin typeface="Aptos"/>
              </a:rPr>
              <a:t>20 PT × 350 € = 7.000 €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2834640"/>
            <a:ext cx="4251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30568" y="299008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57283"/>
                </a:solidFill>
                <a:latin typeface="Aptos"/>
              </a:rPr>
              <a:t>Tool-/Softwarekosten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97180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9CA4"/>
                </a:solidFill>
                <a:latin typeface="Aptos"/>
              </a:rPr>
              <a:t>2.000 €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3611880"/>
            <a:ext cx="4251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0568" y="376732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57283"/>
                </a:solidFill>
                <a:latin typeface="Aptos"/>
              </a:rPr>
              <a:t>Risikopuffer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749039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E67E22"/>
                </a:solidFill>
                <a:latin typeface="Aptos"/>
              </a:rPr>
              <a:t>10 % = 900 €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29400" y="4389120"/>
            <a:ext cx="4251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30568" y="4544568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57283"/>
                </a:solidFill>
                <a:latin typeface="Aptos"/>
              </a:rPr>
              <a:t>Gesamtbudget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526279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158E51"/>
                </a:solidFill>
                <a:latin typeface="Aptos"/>
              </a:rPr>
              <a:t>ca. 9.900 €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5413248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657283"/>
                </a:solidFill>
                <a:latin typeface="Aptos"/>
              </a:rPr>
              <a:t>Annahme: 350 € interner Kostensatz pro Personentag inklusive indirekter Kosten wie Arbeitsplatz, Software, Abstimmung und Verwaltung.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Erfolg wird nicht nur gefühlt, sondern messbar gemacht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3749039" cy="512064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657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Ziel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6492240" cy="512064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664208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12264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167128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Schnellere Produktivität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112264"/>
            <a:ext cx="649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3" y="2167128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Zeit bis zur eigenständigen Bearbeitung erster Aufgaben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24328"/>
            <a:ext cx="3749039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2679192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Entlastung der Teamleitung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624328"/>
            <a:ext cx="6492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3" y="2679192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Anzahl spontaner Rückfragen an Teamlead pro Woche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36392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191256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Höhere Prozessklarheit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136392"/>
            <a:ext cx="649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3" y="3191256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Erfüllte Onboarding-Checklistenpunkte in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48456"/>
            <a:ext cx="3749039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703320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Bessere Zufriedenheit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648456"/>
            <a:ext cx="6492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9703" y="3703320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Onboarding-Zufriedenheit nach 30 Tagen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60520"/>
            <a:ext cx="374903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4215384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Frühe Erkennung von Wissenslücken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160520"/>
            <a:ext cx="6492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9703" y="4215384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Ergebnisse des vertraulichen 30-Tage-Selbstchecks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672584"/>
            <a:ext cx="3749039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" y="4727448"/>
            <a:ext cx="36393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Weniger Überforderung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672584"/>
            <a:ext cx="6492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9703" y="4727448"/>
            <a:ext cx="6382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Selbsteinschätzung Woche 1 vs. Woche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257800"/>
            <a:ext cx="10104120" cy="621792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BED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" y="544068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71DB"/>
                </a:solidFill>
                <a:latin typeface="Aptos"/>
              </a:rPr>
              <a:t>Hinweis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440680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C1E38"/>
                </a:solidFill>
                <a:latin typeface="Aptos"/>
              </a:rPr>
              <a:t>Der 30-Tage-Selbstcheck ist kein Bewertungstest, sondern ein vertrauliches Reflexions- und Unterstützungsinstrument.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1E38"/>
                </a:solidFill>
                <a:latin typeface="Aptos Display"/>
              </a:rPr>
              <a:t>Risiken &amp; Gegenmaßnahmen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8404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57283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57283"/>
                </a:solidFill>
                <a:latin typeface="Aptos"/>
              </a:rPr>
              <a:t>Business Analysis Case Study | Digitalisierung Mitarbeiter-Onboarding | Eigenprojekt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5728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1E38"/>
                </a:solidFill>
                <a:latin typeface="Aptos Display"/>
              </a:rPr>
              <a:t>Realistische Risiken werden früh adressiert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4754880" cy="603504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Risiko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00200"/>
            <a:ext cx="5486400" cy="603504"/>
          </a:xfrm>
          <a:prstGeom prst="rect">
            <a:avLst/>
          </a:prstGeom>
          <a:solidFill>
            <a:srgbClr val="0C1E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166420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Gegenmaßnahme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03704"/>
            <a:ext cx="4754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258568"/>
            <a:ext cx="4645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Plattform wird nicht aktiv genutzt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2203704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95544" y="2258568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Einfache Bedienung und kurze Einführung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07208"/>
            <a:ext cx="475488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2862072"/>
            <a:ext cx="4645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Inhalte veralten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807208"/>
            <a:ext cx="548640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95544" y="286207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Verantwortliche Person je Bereich festlegen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2"/>
            <a:ext cx="4754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465576"/>
            <a:ext cx="4645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Onboarding wird zu unpersönlich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3410712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95544" y="3465576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Digitale Inhalte mit persönlichen Gesprächen kombinieren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14216"/>
            <a:ext cx="475488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4069080"/>
            <a:ext cx="4645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Teamlead/HR haben wenig Zeit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4014216"/>
            <a:ext cx="548640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95544" y="4069080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Termine frühzeitig im Kalender blocken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617720"/>
            <a:ext cx="4754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4672584"/>
            <a:ext cx="4645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Verantwortlichkeiten sind unklar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4617720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95544" y="4672584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C232B"/>
                </a:solidFill>
                <a:latin typeface="Aptos"/>
              </a:rPr>
              <a:t>Rollen und Zuständigkeiten eindeutig definieren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E38"/>
                </a:solidFill>
                <a:latin typeface="Aptos"/>
              </a:rPr>
              <a:t>Projektlogik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4864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32B"/>
                </a:solidFill>
                <a:latin typeface="Aptos"/>
              </a:rPr>
              <a:t>Nicht „Tool einführen und hoffen“, sondern Prozess, Rollen, Gespräche und Messung gemeinsam gestalten.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1FF"/>
                </a:solidFill>
                <a:latin typeface="Aptos"/>
              </a:rPr>
              <a:t>FAZIT &amp; EMPFEHLUNG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Pilot starten. Lernen sichern. Onboarding standardisieren.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957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2F0"/>
                </a:solidFill>
                <a:latin typeface="Aptos"/>
              </a:rPr>
              <a:t>Die vorgeschlagene Lösung schafft Orientierung für neue Mitarbeitende, entlastet Teamlead und HR und macht die Qualität des Onboardings messbar.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57600"/>
            <a:ext cx="3246120" cy="1234440"/>
          </a:xfrm>
          <a:prstGeom prst="roundRect">
            <a:avLst/>
          </a:prstGeom>
          <a:solidFill>
            <a:srgbClr val="18365E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58768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1. Pilotphase durchführen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8E2F0"/>
                </a:solidFill>
                <a:latin typeface="Aptos"/>
              </a:rPr>
              <a:t>Test mit kleiner Gruppe neuer Mitarbeitender und strukturierter Feedbackauswertung.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246120" cy="1234440"/>
          </a:xfrm>
          <a:prstGeom prst="roundRect">
            <a:avLst/>
          </a:prstGeom>
          <a:solidFill>
            <a:srgbClr val="18365E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3858768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2. Inhalte optimieren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22452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8E2F0"/>
                </a:solidFill>
                <a:latin typeface="Aptos"/>
              </a:rPr>
              <a:t>Checklisten, Dokumente und Lernpfad anhand realer Rückmeldungen verbessern.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657600"/>
            <a:ext cx="3246120" cy="1234440"/>
          </a:xfrm>
          <a:prstGeom prst="roundRect">
            <a:avLst/>
          </a:prstGeom>
          <a:solidFill>
            <a:srgbClr val="18365E"/>
          </a:solidFill>
          <a:ln w="12700">
            <a:solidFill>
              <a:srgbClr val="2C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3858768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3. Rollout vorbereiten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22452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8E2F0"/>
                </a:solidFill>
                <a:latin typeface="Aptos"/>
              </a:rPr>
              <a:t>Rollen, Verantwortlichkeiten und KPIs verbindlich im Standardprozess verankern.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D3E5"/>
                </a:solidFill>
                <a:latin typeface="Aptos"/>
              </a:rPr>
              <a:t>Case Study von Arman Ahmadi | Fokus: Business Analysis, Projektmanagement, Kommunikation und strukturierte Problemlösung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1296</Words>
  <Application>Microsoft Macintosh PowerPoint</Application>
  <PresentationFormat>Breitbild</PresentationFormat>
  <Paragraphs>318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Digitalisierung des Mitarbeiter-Onboardings - Business Analysis Case Study</dc:title>
  <dc:subject>Eigenprojekt für Bewerbungen im Bereich Business Analysis / Projektmanagement</dc:subject>
  <dc:creator>Arman Ahmadi</dc:creator>
  <cp:keywords/>
  <dc:description>Created with assistance from ChatGPT</dc:description>
  <cp:lastModifiedBy>Arman Ahmadi</cp:lastModifiedBy>
  <cp:revision>2</cp:revision>
  <dcterms:created xsi:type="dcterms:W3CDTF">2013-01-27T09:14:16Z</dcterms:created>
  <dcterms:modified xsi:type="dcterms:W3CDTF">2026-06-26T12:08:43Z</dcterms:modified>
  <cp:category/>
</cp:coreProperties>
</file>